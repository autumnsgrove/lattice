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81C87">
              <a:alpha val="30000"/>
            </a:srgbClr>
          </a:solidFill>
          <a:ln/>
        </p:spPr>
      </p:sp>
      <p:pic>
        <p:nvPicPr>
          <p:cNvPr id="3" name="Image 0" descr="/sessions/dazzling-determined-rubin/mnt/GroveEngine/docs/internal/email-assets/logos/social/logo-midnight-1024-so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365760"/>
            <a:ext cx="2743200" cy="2743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0" y="3200400"/>
            <a:ext cx="6400800" cy="1645920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71600" y="32461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Grove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371600" y="4023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Blogging infrastructure for the post-platform era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grove.place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783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45309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EF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internet got stolen.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256032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decide what you see.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hold your content hostage.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gets sold to advertisers.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Marginalized communities get deplatformed overnight.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B3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want their own corner of the internet back.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65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3314700"/>
          </a:xfrm>
          <a:prstGeom prst="rect">
            <a:avLst/>
          </a:prstGeom>
          <a:solidFill>
            <a:srgbClr val="15803D">
              <a:alpha val="50000"/>
            </a:srgbClr>
          </a:solidFill>
          <a:ln/>
        </p:spPr>
      </p:sp>
      <p:pic>
        <p:nvPicPr>
          <p:cNvPr id="3" name="Image 0" descr="/sessions/dazzling-determined-rubin/mnt/GroveEngine/docs/internal/email-assets/logos/social/logo-summer-512-so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26080" y="10972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Grove gives everyone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292608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their own blog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2926080" y="23317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subdomain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286000" y="3200400"/>
            <a:ext cx="4572000" cy="822960"/>
          </a:xfrm>
          <a:prstGeom prst="rect">
            <a:avLst/>
          </a:prstGeom>
          <a:solidFill>
            <a:srgbClr val="1E293B">
              <a:alpha val="70000"/>
            </a:srgbClr>
          </a:solidFill>
          <a:ln w="12700">
            <a:solidFill>
              <a:srgbClr val="84CC16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0" y="32461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you.grove.place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portable  •  No algorithms  •  Community optional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472B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now?</a:t>
            </a:r>
            <a:endParaRPr lang="en-US" sz="4200" dirty="0"/>
          </a:p>
        </p:txBody>
      </p:sp>
      <p:pic>
        <p:nvPicPr>
          <p:cNvPr id="4" name="Image 0" descr="/sessions/dazzling-determined-rubin/mnt/GroveEngine/docs/internal/email-assets/logos/social/logo-spring-512-so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6217920" cy="777240"/>
          </a:xfrm>
          <a:prstGeom prst="rect">
            <a:avLst/>
          </a:prstGeom>
          <a:solidFill>
            <a:srgbClr val="475569">
              <a:alpha val="5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4173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2022-24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286000" y="14173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Twitter/X exodus created millions of displaced users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2194560"/>
            <a:ext cx="6217920" cy="777240"/>
          </a:xfrm>
          <a:prstGeom prst="rect">
            <a:avLst/>
          </a:prstGeom>
          <a:solidFill>
            <a:srgbClr val="475569">
              <a:alpha val="5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331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286000" y="23317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Gen Z distrust algorithm-driven platforms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3108960"/>
            <a:ext cx="6217920" cy="777240"/>
          </a:xfrm>
          <a:prstGeom prst="rect">
            <a:avLst/>
          </a:prstGeom>
          <a:solidFill>
            <a:srgbClr val="475569">
              <a:alpha val="5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2461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Substack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286000" y="32461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people pay for writing. But it's centralized.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7200" y="4023360"/>
            <a:ext cx="6217920" cy="777240"/>
          </a:xfrm>
          <a:prstGeom prst="rect">
            <a:avLst/>
          </a:prstGeom>
          <a:solidFill>
            <a:srgbClr val="475569">
              <a:alpha val="5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41605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IndieWeb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286000" y="41605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is growing. But setup is still too hard.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65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we've built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188720"/>
          </a:xfrm>
          <a:prstGeom prst="rect">
            <a:avLst/>
          </a:prstGeom>
          <a:solidFill>
            <a:srgbClr val="1E293B">
              <a:alpha val="60000"/>
            </a:srgbClr>
          </a:solidFill>
          <a:ln w="25400">
            <a:solidFill>
              <a:srgbClr val="84CC16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4C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4114800" cy="1188720"/>
          </a:xfrm>
          <a:prstGeom prst="rect">
            <a:avLst/>
          </a:prstGeom>
          <a:solidFill>
            <a:srgbClr val="1E293B">
              <a:alpha val="60000"/>
            </a:srgbClr>
          </a:solidFill>
          <a:ln w="254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0972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v0.9.97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84632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Version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114800" cy="1188720"/>
          </a:xfrm>
          <a:prstGeom prst="rect">
            <a:avLst/>
          </a:prstGeom>
          <a:solidFill>
            <a:srgbClr val="1E293B">
              <a:alpha val="60000"/>
            </a:srgbClr>
          </a:solidFill>
          <a:ln w="254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688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Native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2377440"/>
            <a:ext cx="4114800" cy="1188720"/>
          </a:xfrm>
          <a:prstGeom prst="rect">
            <a:avLst/>
          </a:prstGeom>
          <a:solidFill>
            <a:srgbClr val="1E293B">
              <a:alpha val="60000"/>
            </a:srgbClr>
          </a:solidFill>
          <a:ln w="25400">
            <a:solidFill>
              <a:srgbClr val="F472B6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4688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72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846320" y="3108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Migrations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0F172A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grove.place   |   forage.grove.place   |   example.grove.place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SaaS  •  Vertical Integration  •  Near-Zero Marginal Cost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1463040" cy="7315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017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23160" y="2560320"/>
            <a:ext cx="1463040" cy="10972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8" name="Text 6"/>
          <p:cNvSpPr/>
          <p:nvPr/>
        </p:nvSpPr>
        <p:spPr>
          <a:xfrm>
            <a:off x="2423160" y="2651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23160" y="3749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Seedling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2194560"/>
            <a:ext cx="1463040" cy="14630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3749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Sapling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06440" y="1645920"/>
            <a:ext cx="1463040" cy="201168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4" name="Text 12"/>
          <p:cNvSpPr/>
          <p:nvPr/>
        </p:nvSpPr>
        <p:spPr>
          <a:xfrm>
            <a:off x="5806440" y="17373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06440" y="3749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0" y="1097280"/>
            <a:ext cx="1463040" cy="2560320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0" y="1188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0" y="3749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4206240"/>
            <a:ext cx="6400800" cy="731520"/>
          </a:xfrm>
          <a:prstGeom prst="rect">
            <a:avLst/>
          </a:prstGeom>
          <a:solidFill>
            <a:srgbClr val="166534">
              <a:alpha val="50000"/>
            </a:srgbClr>
          </a:solidFill>
          <a:ln w="12700">
            <a:solidFill>
              <a:srgbClr val="84CC16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42976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Target: 1,000 users × $15 avg = $15K MRR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457200"/>
            <a:ext cx="54864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84C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$4.5B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Blogging &amp; personal publishing market by 2027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solidFill>
            <a:srgbClr val="475569">
              <a:alpha val="4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Competitors: Substack • Ghost • Tumblr • WordPress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are building for the post-platform era.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not competing with Substack. We're building the anti-platform.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moat</a:t>
            </a:r>
            <a:endParaRPr lang="en-US" sz="3600" dirty="0"/>
          </a:p>
        </p:txBody>
      </p:sp>
      <p:pic>
        <p:nvPicPr>
          <p:cNvPr id="3" name="Image 0" descr="/sessions/dazzling-determined-rubin/mnt/GroveEngine/docs/internal/email-assets/logos/social/logo-spring-512-so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1440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606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200" dirty="0"/>
          </a:p>
        </p:txBody>
      </p:sp>
      <p:pic>
        <p:nvPicPr>
          <p:cNvPr id="5" name="Image 1" descr="/sessions/dazzling-determined-rubin/mnt/GroveEngine/docs/internal/email-assets/logos/social/logo-summer-512-so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914400"/>
            <a:ext cx="1645920" cy="1645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34640" y="2606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200" dirty="0"/>
          </a:p>
        </p:txBody>
      </p:sp>
      <p:pic>
        <p:nvPicPr>
          <p:cNvPr id="7" name="Image 2" descr="/sessions/dazzling-determined-rubin/mnt/GroveEngine/docs/internal/email-assets/logos/social/logo-autumn-512-soci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914400"/>
            <a:ext cx="1645920" cy="16459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29200" y="2606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200" dirty="0"/>
          </a:p>
        </p:txBody>
      </p:sp>
      <p:pic>
        <p:nvPicPr>
          <p:cNvPr id="9" name="Image 3" descr="/sessions/dazzling-determined-rubin/mnt/GroveEngine/docs/internal/email-assets/logos/social/logo-winter-512-soci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914400"/>
            <a:ext cx="1645920" cy="16459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223760" y="2606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11" name="Shape 5"/>
          <p:cNvSpPr/>
          <p:nvPr/>
        </p:nvSpPr>
        <p:spPr>
          <a:xfrm>
            <a:off x="457200" y="3063240"/>
            <a:ext cx="91440" cy="365760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12" name="Text 6"/>
          <p:cNvSpPr/>
          <p:nvPr/>
        </p:nvSpPr>
        <p:spPr>
          <a:xfrm>
            <a:off x="68580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effects — 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2834640" y="30632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Meadow feed means your blog is part of a forest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457200" y="3566160"/>
            <a:ext cx="91440" cy="365760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15" name="Text 9"/>
          <p:cNvSpPr/>
          <p:nvPr/>
        </p:nvSpPr>
        <p:spPr>
          <a:xfrm>
            <a:off x="68580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alignment — 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2834640" y="35661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Queer-friendly, solarpunk. People stay for what we stand for.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57200" y="4069080"/>
            <a:ext cx="91440" cy="365760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18" name="Text 12"/>
          <p:cNvSpPr/>
          <p:nvPr/>
        </p:nvSpPr>
        <p:spPr>
          <a:xfrm>
            <a:off x="685800" y="4069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through portability — 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2834640" y="40690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markdown anytime. Ironically, this makes people stay.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57200" y="4572000"/>
            <a:ext cx="91440" cy="365760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21" name="Text 15"/>
          <p:cNvSpPr/>
          <p:nvPr/>
        </p:nvSpPr>
        <p:spPr>
          <a:xfrm>
            <a:off x="685800" y="4572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components — 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2834640" y="45720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themes. Glassmorphism. It feels like home.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65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0F172A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4C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$500K seed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runway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011680" cy="128016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84CC16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4C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beta launch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2377440"/>
            <a:ext cx="2011680" cy="128016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84CC16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4C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100 paying users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377440"/>
            <a:ext cx="2011680" cy="128016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84CC16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4C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3776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users + $15K MRR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40880" y="2377440"/>
            <a:ext cx="2011680" cy="128016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84CC1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4C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M18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13232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ready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70% eng hiring  •  20% infrastructure  •  10% marketing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457200"/>
            <a:ext cx="4572000" cy="3657600"/>
          </a:xfrm>
          <a:prstGeom prst="ellipse">
            <a:avLst/>
          </a:prstGeom>
          <a:solidFill>
            <a:srgbClr val="581C87">
              <a:alpha val="30000"/>
            </a:srgbClr>
          </a:solidFill>
          <a:ln/>
        </p:spPr>
      </p:sp>
      <p:pic>
        <p:nvPicPr>
          <p:cNvPr id="3" name="Image 0" descr="/sessions/dazzling-determined-rubin/mnt/GroveEngine/docs/internal/email-assets/combined/transparent/logo-seasons-combined-512-overlap3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74320"/>
            <a:ext cx="457200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internet should belong to everyone.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building the infrastructure to make that real.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286000" y="3657600"/>
            <a:ext cx="4572000" cy="1188720"/>
          </a:xfrm>
          <a:prstGeom prst="rect">
            <a:avLst/>
          </a:prstGeom>
          <a:solidFill>
            <a:srgbClr val="581C87">
              <a:alpha val="5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0" y="3794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EF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Autumn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28600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wrathofthestorm0@gmail.com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286000" y="4526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grove.place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Grove - YC Pitch</dc:title>
  <dc:subject>PptxGenJS Presentation</dc:subject>
  <dc:creator>Autumn</dc:creator>
  <cp:lastModifiedBy>Autumn</cp:lastModifiedBy>
  <cp:revision>1</cp:revision>
  <dcterms:created xsi:type="dcterms:W3CDTF">2026-01-31T17:42:37Z</dcterms:created>
  <dcterms:modified xsi:type="dcterms:W3CDTF">2026-01-31T17:42:37Z</dcterms:modified>
</cp:coreProperties>
</file>